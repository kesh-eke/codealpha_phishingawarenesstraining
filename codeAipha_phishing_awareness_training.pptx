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0" d="100"/>
          <a:sy n="80" d="100"/>
        </p:scale>
        <p:origin x="3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192C1-ADF5-6CFE-E755-34CA2758B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0283B1-A2ED-898A-2BBB-D20D788954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E5D892-F329-D0A0-95C6-07DE601A8BED}"/>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5" name="Footer Placeholder 4">
            <a:extLst>
              <a:ext uri="{FF2B5EF4-FFF2-40B4-BE49-F238E27FC236}">
                <a16:creationId xmlns:a16="http://schemas.microsoft.com/office/drawing/2014/main" id="{053CDF7C-A59B-307D-C5E7-3EF2FA89B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1E6EE-35FB-36FA-4792-7C4EC8565A9B}"/>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1652918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5C3D8-24B8-7248-D8BA-C4AFDE0845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BEA1C1-F63A-91F8-F27E-CAAEC2F1FB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8229D-39CA-BE00-C539-5FC89C8E4C87}"/>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5" name="Footer Placeholder 4">
            <a:extLst>
              <a:ext uri="{FF2B5EF4-FFF2-40B4-BE49-F238E27FC236}">
                <a16:creationId xmlns:a16="http://schemas.microsoft.com/office/drawing/2014/main" id="{87B8FCD9-8676-CDA5-AAE8-45835CF26F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5319D9-8062-E08B-2D9C-A143B5E3BDAA}"/>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438860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6E80-AA7F-A233-7684-E9114370BD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0DF51C-E09B-54F9-82F7-DE84B21A2C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043989-A313-A121-B025-8DCD37B97929}"/>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5" name="Footer Placeholder 4">
            <a:extLst>
              <a:ext uri="{FF2B5EF4-FFF2-40B4-BE49-F238E27FC236}">
                <a16:creationId xmlns:a16="http://schemas.microsoft.com/office/drawing/2014/main" id="{08190E31-D4F0-3EE6-A7B4-EAED41B063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59E562-16D8-2EB5-BC6E-699C334B5FD1}"/>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948663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17577-F6E2-B120-8DA6-819C8AB62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E29160-62A6-E180-D9D3-A2B4177989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E276FA-0CB7-C2AA-ED48-F9D0D561B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15891-0DA0-7C62-2BFB-6CADA41F3DFF}"/>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6" name="Footer Placeholder 5">
            <a:extLst>
              <a:ext uri="{FF2B5EF4-FFF2-40B4-BE49-F238E27FC236}">
                <a16:creationId xmlns:a16="http://schemas.microsoft.com/office/drawing/2014/main" id="{0DCC6798-6095-5F36-AC05-516EA5052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9ECE60-7A3F-287D-12E3-68B733F603E3}"/>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2955725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B5EBB-9897-BCF6-D996-B334651173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2A517A-E260-AD5F-115D-44D523593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810EF4-E2A0-1181-3BB9-9749D9090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26648B-F6AF-9D4C-3CCE-21191CB49B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7E9D10-4735-A19E-C4A8-2222D4D0BF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62AB9D-8875-3F50-00A5-436903139C0A}"/>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8" name="Footer Placeholder 7">
            <a:extLst>
              <a:ext uri="{FF2B5EF4-FFF2-40B4-BE49-F238E27FC236}">
                <a16:creationId xmlns:a16="http://schemas.microsoft.com/office/drawing/2014/main" id="{F276E45F-B2F2-67AF-DA4E-B63E6C884C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C53C63-7D09-044A-3ED1-DBC81A4AC20B}"/>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3599961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DB973-62C9-2CFB-D1A0-130B98EA4F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1376C7-7878-0B01-3FC0-DF892BEAFE56}"/>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4" name="Footer Placeholder 3">
            <a:extLst>
              <a:ext uri="{FF2B5EF4-FFF2-40B4-BE49-F238E27FC236}">
                <a16:creationId xmlns:a16="http://schemas.microsoft.com/office/drawing/2014/main" id="{36332691-1B8E-B357-2915-8CEF52A4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FA3F19-0F5D-82FD-DF90-456A9AE73458}"/>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2317274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8DC6CF-73C5-D68A-49A5-7DF1504A3DFA}"/>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3" name="Footer Placeholder 2">
            <a:extLst>
              <a:ext uri="{FF2B5EF4-FFF2-40B4-BE49-F238E27FC236}">
                <a16:creationId xmlns:a16="http://schemas.microsoft.com/office/drawing/2014/main" id="{6C9D1E79-01D0-8A4F-EBD6-66323550C5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7CC2C0-D733-A6DC-D3FA-98D2F3BE7DC5}"/>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3703396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2B3C3-CFBF-0653-BB16-40A3179F32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DA5FFF-BBC2-2709-A50A-8EA87AB1E8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DA2165-D245-F795-B677-4287223727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C26D5-B68E-658E-1631-A2970D616516}"/>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6" name="Footer Placeholder 5">
            <a:extLst>
              <a:ext uri="{FF2B5EF4-FFF2-40B4-BE49-F238E27FC236}">
                <a16:creationId xmlns:a16="http://schemas.microsoft.com/office/drawing/2014/main" id="{57E0A83E-3E46-6794-1B6F-2F14ED3932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C17EC5-42D5-B534-8F4A-32D240068456}"/>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3815051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CF501-CA99-E4F8-EE5E-ED574FD62E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8D4644-864D-E8BA-62C8-DFB8AB8529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A777D2-E769-A7E9-6E41-CCF0CF938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452BF2-135A-D3A1-5416-6C3E6C5DBAFD}"/>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6" name="Footer Placeholder 5">
            <a:extLst>
              <a:ext uri="{FF2B5EF4-FFF2-40B4-BE49-F238E27FC236}">
                <a16:creationId xmlns:a16="http://schemas.microsoft.com/office/drawing/2014/main" id="{A056DC7A-41ED-38CC-55B3-A938FF0C55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5027D1-B57B-3475-9148-1B4AC7AF3FBF}"/>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2650343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54E68-248B-C1A8-F3DD-C72D8D3F99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DB4ADA-C71F-D91E-9D82-9AB446E6C6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6BA312-5AE5-A668-B70A-31602063BBC8}"/>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5" name="Footer Placeholder 4">
            <a:extLst>
              <a:ext uri="{FF2B5EF4-FFF2-40B4-BE49-F238E27FC236}">
                <a16:creationId xmlns:a16="http://schemas.microsoft.com/office/drawing/2014/main" id="{5FD39A25-D1A7-EFD0-A6EC-5AC242BA2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0FDC3-1E9B-DBB2-0A76-F57CE147AC31}"/>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4244728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662DAD-FDDD-2AE8-C387-45DDFD000B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4E4F00-12E2-0725-3788-83338D8D8C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BAF7A5-5517-0765-B1B0-9AEB27549A7A}"/>
              </a:ext>
            </a:extLst>
          </p:cNvPr>
          <p:cNvSpPr>
            <a:spLocks noGrp="1"/>
          </p:cNvSpPr>
          <p:nvPr>
            <p:ph type="dt" sz="half" idx="10"/>
          </p:nvPr>
        </p:nvSpPr>
        <p:spPr/>
        <p:txBody>
          <a:bodyPr/>
          <a:lstStyle/>
          <a:p>
            <a:fld id="{3985CFCE-C90C-4137-B8B8-61D30B46E36D}" type="datetimeFigureOut">
              <a:rPr lang="en-US" smtClean="0"/>
              <a:t>8/9/2026</a:t>
            </a:fld>
            <a:endParaRPr lang="en-US"/>
          </a:p>
        </p:txBody>
      </p:sp>
      <p:sp>
        <p:nvSpPr>
          <p:cNvPr id="5" name="Footer Placeholder 4">
            <a:extLst>
              <a:ext uri="{FF2B5EF4-FFF2-40B4-BE49-F238E27FC236}">
                <a16:creationId xmlns:a16="http://schemas.microsoft.com/office/drawing/2014/main" id="{26E4D203-72CA-96B8-C6BD-AF986FC2D7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51D848-5187-63C6-07A0-00D7DED947CB}"/>
              </a:ext>
            </a:extLst>
          </p:cNvPr>
          <p:cNvSpPr>
            <a:spLocks noGrp="1"/>
          </p:cNvSpPr>
          <p:nvPr>
            <p:ph type="sldNum" sz="quarter" idx="12"/>
          </p:nvPr>
        </p:nvSpPr>
        <p:spPr/>
        <p:txBody>
          <a:bodyPr/>
          <a:lstStyle/>
          <a:p>
            <a:fld id="{C20E4BF6-9F65-4CE0-89F4-441B8A2CC4C8}" type="slidenum">
              <a:rPr lang="en-US" smtClean="0"/>
              <a:t>‹#›</a:t>
            </a:fld>
            <a:endParaRPr lang="en-US"/>
          </a:p>
        </p:txBody>
      </p:sp>
    </p:spTree>
    <p:extLst>
      <p:ext uri="{BB962C8B-B14F-4D97-AF65-F5344CB8AC3E}">
        <p14:creationId xmlns:p14="http://schemas.microsoft.com/office/powerpoint/2010/main" val="568356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C9749A-7DE4-0073-98C5-254AECCB19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8FD362-0EC0-A2D2-83EC-6526B6DFB6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3106F-2AEC-AEF7-05F0-E822F96BF7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85CFCE-C90C-4137-B8B8-61D30B46E36D}" type="datetimeFigureOut">
              <a:rPr lang="en-US" smtClean="0"/>
              <a:t>8/9/2026</a:t>
            </a:fld>
            <a:endParaRPr lang="en-US"/>
          </a:p>
        </p:txBody>
      </p:sp>
      <p:sp>
        <p:nvSpPr>
          <p:cNvPr id="5" name="Footer Placeholder 4">
            <a:extLst>
              <a:ext uri="{FF2B5EF4-FFF2-40B4-BE49-F238E27FC236}">
                <a16:creationId xmlns:a16="http://schemas.microsoft.com/office/drawing/2014/main" id="{EC97C4CC-5BC8-882B-A7CC-F0EF339507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3EBDDF-7463-9EC3-8D85-21F4E4AFC1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0E4BF6-9F65-4CE0-89F4-441B8A2CC4C8}" type="slidenum">
              <a:rPr lang="en-US" smtClean="0"/>
              <a:t>‹#›</a:t>
            </a:fld>
            <a:endParaRPr lang="en-US"/>
          </a:p>
        </p:txBody>
      </p:sp>
    </p:spTree>
    <p:extLst>
      <p:ext uri="{BB962C8B-B14F-4D97-AF65-F5344CB8AC3E}">
        <p14:creationId xmlns:p14="http://schemas.microsoft.com/office/powerpoint/2010/main" val="1281469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6FD95-E17E-6203-C9A0-82797E4C3FF7}"/>
              </a:ext>
            </a:extLst>
          </p:cNvPr>
          <p:cNvSpPr>
            <a:spLocks noGrp="1"/>
          </p:cNvSpPr>
          <p:nvPr>
            <p:ph type="ctrTitle"/>
          </p:nvPr>
        </p:nvSpPr>
        <p:spPr>
          <a:xfrm>
            <a:off x="1524000" y="1122363"/>
            <a:ext cx="9689432" cy="1348121"/>
          </a:xfrm>
        </p:spPr>
        <p:txBody>
          <a:bodyPr>
            <a:normAutofit fontScale="90000"/>
          </a:bodyPr>
          <a:lstStyle/>
          <a:p>
            <a:r>
              <a:rPr lang="en-US" dirty="0">
                <a:solidFill>
                  <a:schemeClr val="bg1"/>
                </a:solidFill>
              </a:rPr>
              <a:t>Phishing Awareness Presentation</a:t>
            </a:r>
          </a:p>
        </p:txBody>
      </p:sp>
      <p:sp>
        <p:nvSpPr>
          <p:cNvPr id="3" name="Subtitle 2">
            <a:extLst>
              <a:ext uri="{FF2B5EF4-FFF2-40B4-BE49-F238E27FC236}">
                <a16:creationId xmlns:a16="http://schemas.microsoft.com/office/drawing/2014/main" id="{A8B8230D-8DF1-7CF6-8087-B9F0064D27F8}"/>
              </a:ext>
            </a:extLst>
          </p:cNvPr>
          <p:cNvSpPr>
            <a:spLocks noGrp="1"/>
          </p:cNvSpPr>
          <p:nvPr>
            <p:ph type="subTitle" idx="1"/>
          </p:nvPr>
        </p:nvSpPr>
        <p:spPr>
          <a:xfrm>
            <a:off x="1524000" y="3602037"/>
            <a:ext cx="9144000" cy="2991267"/>
          </a:xfrm>
        </p:spPr>
        <p:txBody>
          <a:bodyPr>
            <a:normAutofit/>
          </a:bodyPr>
          <a:lstStyle/>
          <a:p>
            <a:r>
              <a:rPr lang="en-US" dirty="0">
                <a:solidFill>
                  <a:schemeClr val="bg1"/>
                </a:solidFill>
              </a:rPr>
              <a:t>A cybersecurity Awareness Training</a:t>
            </a:r>
          </a:p>
          <a:p>
            <a:r>
              <a:rPr lang="en-US" dirty="0">
                <a:solidFill>
                  <a:schemeClr val="bg1"/>
                </a:solidFill>
              </a:rPr>
              <a:t>Presented BY</a:t>
            </a:r>
          </a:p>
          <a:p>
            <a:r>
              <a:rPr lang="en-US" dirty="0">
                <a:solidFill>
                  <a:schemeClr val="bg1"/>
                </a:solidFill>
              </a:rPr>
              <a:t>Shedrack </a:t>
            </a:r>
            <a:r>
              <a:rPr lang="en-US" dirty="0" err="1">
                <a:solidFill>
                  <a:schemeClr val="bg1"/>
                </a:solidFill>
              </a:rPr>
              <a:t>ekenomamwan</a:t>
            </a:r>
            <a:endParaRPr lang="en-US" dirty="0">
              <a:solidFill>
                <a:schemeClr val="bg1"/>
              </a:solidFill>
            </a:endParaRPr>
          </a:p>
          <a:p>
            <a:r>
              <a:rPr lang="en-US" dirty="0" err="1">
                <a:solidFill>
                  <a:schemeClr val="bg1"/>
                </a:solidFill>
              </a:rPr>
              <a:t>CodeAlpha</a:t>
            </a:r>
            <a:r>
              <a:rPr lang="en-US" dirty="0">
                <a:solidFill>
                  <a:schemeClr val="bg1"/>
                </a:solidFill>
              </a:rPr>
              <a:t> Cyber security Internship</a:t>
            </a:r>
          </a:p>
          <a:p>
            <a:endParaRPr lang="en-US" dirty="0">
              <a:solidFill>
                <a:schemeClr val="bg1"/>
              </a:solidFill>
            </a:endParaRPr>
          </a:p>
          <a:p>
            <a:r>
              <a:rPr lang="en-US" dirty="0">
                <a:solidFill>
                  <a:schemeClr val="bg1"/>
                </a:solidFill>
              </a:rPr>
              <a:t>2026</a:t>
            </a: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631813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01545-C6F5-5B51-A024-5459F0383545}"/>
              </a:ext>
            </a:extLst>
          </p:cNvPr>
          <p:cNvSpPr>
            <a:spLocks noGrp="1"/>
          </p:cNvSpPr>
          <p:nvPr>
            <p:ph type="title"/>
          </p:nvPr>
        </p:nvSpPr>
        <p:spPr>
          <a:xfrm>
            <a:off x="1042736" y="850231"/>
            <a:ext cx="5053263" cy="1115309"/>
          </a:xfrm>
        </p:spPr>
        <p:txBody>
          <a:bodyPr/>
          <a:lstStyle/>
          <a:p>
            <a:r>
              <a:rPr lang="en-US" dirty="0">
                <a:solidFill>
                  <a:schemeClr val="bg1"/>
                </a:solidFill>
              </a:rPr>
              <a:t>What</a:t>
            </a:r>
            <a:r>
              <a:rPr lang="en-US" dirty="0"/>
              <a:t> </a:t>
            </a:r>
            <a:r>
              <a:rPr lang="en-US" dirty="0">
                <a:solidFill>
                  <a:schemeClr val="bg1"/>
                </a:solidFill>
              </a:rPr>
              <a:t>is</a:t>
            </a:r>
            <a:r>
              <a:rPr lang="en-US" dirty="0"/>
              <a:t> </a:t>
            </a:r>
            <a:r>
              <a:rPr lang="en-US" dirty="0">
                <a:solidFill>
                  <a:schemeClr val="bg1"/>
                </a:solidFill>
              </a:rPr>
              <a:t>phishing</a:t>
            </a:r>
          </a:p>
        </p:txBody>
      </p:sp>
      <p:sp>
        <p:nvSpPr>
          <p:cNvPr id="3" name="Content Placeholder 2">
            <a:extLst>
              <a:ext uri="{FF2B5EF4-FFF2-40B4-BE49-F238E27FC236}">
                <a16:creationId xmlns:a16="http://schemas.microsoft.com/office/drawing/2014/main" id="{704647E5-EFC9-0FFC-2CFC-F5BD84ED6E6B}"/>
              </a:ext>
            </a:extLst>
          </p:cNvPr>
          <p:cNvSpPr>
            <a:spLocks noGrp="1"/>
          </p:cNvSpPr>
          <p:nvPr>
            <p:ph idx="1"/>
          </p:nvPr>
        </p:nvSpPr>
        <p:spPr>
          <a:xfrm>
            <a:off x="838200" y="2534653"/>
            <a:ext cx="6460958" cy="3642310"/>
          </a:xfrm>
        </p:spPr>
        <p:txBody>
          <a:bodyPr>
            <a:normAutofit fontScale="92500" lnSpcReduction="10000"/>
          </a:bodyPr>
          <a:lstStyle/>
          <a:p>
            <a:r>
              <a:rPr lang="en-US" sz="2000" dirty="0">
                <a:solidFill>
                  <a:schemeClr val="bg1"/>
                </a:solidFill>
              </a:rPr>
              <a:t>Phishing is a type of cyberattack in which criminals pretend to be trusted organizations or individuals to trick people into revealing sensitive information such as usernames, passwords, bank details, credit card information, or other personal data.</a:t>
            </a:r>
          </a:p>
          <a:p>
            <a:endParaRPr lang="en-US" sz="2000" dirty="0">
              <a:solidFill>
                <a:schemeClr val="bg1"/>
              </a:solidFill>
            </a:endParaRPr>
          </a:p>
          <a:p>
            <a:r>
              <a:rPr lang="en-US" sz="2000" dirty="0">
                <a:solidFill>
                  <a:schemeClr val="bg1"/>
                </a:solidFill>
              </a:rPr>
              <a:t>Phishing attacks are commonly carried out through emails, text messages (SMS), social media messages, phone calls, or fake websites that appear genuine.</a:t>
            </a:r>
          </a:p>
          <a:p>
            <a:endParaRPr lang="en-US" sz="2000" dirty="0">
              <a:solidFill>
                <a:schemeClr val="bg1"/>
              </a:solidFill>
            </a:endParaRPr>
          </a:p>
          <a:p>
            <a:r>
              <a:rPr lang="en-US" sz="2000" dirty="0">
                <a:solidFill>
                  <a:schemeClr val="bg1"/>
                </a:solidFill>
              </a:rPr>
              <a:t>The primary goal of phishing is to steal confidential information, commit financial fraud, or gain unauthorized access to personal or organizational accounts.</a:t>
            </a:r>
          </a:p>
        </p:txBody>
      </p:sp>
      <p:pic>
        <p:nvPicPr>
          <p:cNvPr id="5" name="Picture 4">
            <a:extLst>
              <a:ext uri="{FF2B5EF4-FFF2-40B4-BE49-F238E27FC236}">
                <a16:creationId xmlns:a16="http://schemas.microsoft.com/office/drawing/2014/main" id="{869A9CF4-5770-4AF0-D39E-97B773DD8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3748" y="1965540"/>
            <a:ext cx="4331368" cy="4211423"/>
          </a:xfrm>
          <a:prstGeom prst="rect">
            <a:avLst/>
          </a:prstGeom>
        </p:spPr>
      </p:pic>
    </p:spTree>
    <p:extLst>
      <p:ext uri="{BB962C8B-B14F-4D97-AF65-F5344CB8AC3E}">
        <p14:creationId xmlns:p14="http://schemas.microsoft.com/office/powerpoint/2010/main" val="955170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C794-BAF9-732F-D4C0-3879C252A0B6}"/>
              </a:ext>
            </a:extLst>
          </p:cNvPr>
          <p:cNvSpPr>
            <a:spLocks noGrp="1"/>
          </p:cNvSpPr>
          <p:nvPr>
            <p:ph type="title"/>
          </p:nvPr>
        </p:nvSpPr>
        <p:spPr/>
        <p:txBody>
          <a:bodyPr/>
          <a:lstStyle/>
          <a:p>
            <a:r>
              <a:rPr lang="en-US" dirty="0">
                <a:solidFill>
                  <a:schemeClr val="bg1"/>
                </a:solidFill>
              </a:rPr>
              <a:t>Types of Phishing</a:t>
            </a:r>
          </a:p>
        </p:txBody>
      </p:sp>
      <p:sp>
        <p:nvSpPr>
          <p:cNvPr id="3" name="Content Placeholder 2">
            <a:extLst>
              <a:ext uri="{FF2B5EF4-FFF2-40B4-BE49-F238E27FC236}">
                <a16:creationId xmlns:a16="http://schemas.microsoft.com/office/drawing/2014/main" id="{6CA9DD2C-4000-A469-A17B-B6711C67CB8E}"/>
              </a:ext>
            </a:extLst>
          </p:cNvPr>
          <p:cNvSpPr>
            <a:spLocks noGrp="1"/>
          </p:cNvSpPr>
          <p:nvPr>
            <p:ph idx="1"/>
          </p:nvPr>
        </p:nvSpPr>
        <p:spPr>
          <a:xfrm>
            <a:off x="838200" y="1825625"/>
            <a:ext cx="6300537" cy="4351338"/>
          </a:xfrm>
        </p:spPr>
        <p:txBody>
          <a:bodyPr>
            <a:normAutofit lnSpcReduction="10000"/>
          </a:bodyPr>
          <a:lstStyle/>
          <a:p>
            <a:r>
              <a:rPr lang="en-US" sz="2000" dirty="0">
                <a:solidFill>
                  <a:schemeClr val="bg1"/>
                </a:solidFill>
              </a:rPr>
              <a:t>There are several common types of phishing attacks:</a:t>
            </a:r>
          </a:p>
          <a:p>
            <a:endParaRPr lang="en-US" sz="2000" dirty="0">
              <a:solidFill>
                <a:schemeClr val="bg1"/>
              </a:solidFill>
            </a:endParaRPr>
          </a:p>
          <a:p>
            <a:r>
              <a:rPr lang="en-US" sz="2000" dirty="0">
                <a:solidFill>
                  <a:schemeClr val="bg1"/>
                </a:solidFill>
              </a:rPr>
              <a:t> Email Phishing: Fraudulent emails that appear to come from trusted organizations to steal personal information.</a:t>
            </a:r>
          </a:p>
          <a:p>
            <a:r>
              <a:rPr lang="en-US" sz="2000" dirty="0">
                <a:solidFill>
                  <a:schemeClr val="bg1"/>
                </a:solidFill>
              </a:rPr>
              <a:t> Spear Phishing: Targeted phishing attacks aimed at a specific individual or organization using personalized information.</a:t>
            </a:r>
          </a:p>
          <a:p>
            <a:r>
              <a:rPr lang="en-US" sz="2000" dirty="0">
                <a:solidFill>
                  <a:schemeClr val="bg1"/>
                </a:solidFill>
              </a:rPr>
              <a:t> Smishing: Phishing attacks carried out through SMS or text messages.</a:t>
            </a:r>
          </a:p>
          <a:p>
            <a:r>
              <a:rPr lang="en-US" sz="2000" dirty="0">
                <a:solidFill>
                  <a:schemeClr val="bg1"/>
                </a:solidFill>
              </a:rPr>
              <a:t> Vishing: Phishing conducted through phone calls where attackers impersonate trusted individuals or organizations.</a:t>
            </a:r>
          </a:p>
          <a:p>
            <a:r>
              <a:rPr lang="en-US" sz="2000" dirty="0">
                <a:solidFill>
                  <a:schemeClr val="bg1"/>
                </a:solidFill>
              </a:rPr>
              <a:t> Clone Phishing: A legitimate email is copied and modified to include a malicious link or attachment</a:t>
            </a:r>
            <a:r>
              <a:rPr lang="en-US" sz="1800" dirty="0">
                <a:solidFill>
                  <a:schemeClr val="bg1"/>
                </a:solidFill>
              </a:rPr>
              <a:t>.</a:t>
            </a:r>
          </a:p>
        </p:txBody>
      </p:sp>
      <p:pic>
        <p:nvPicPr>
          <p:cNvPr id="5" name="Picture 4">
            <a:extLst>
              <a:ext uri="{FF2B5EF4-FFF2-40B4-BE49-F238E27FC236}">
                <a16:creationId xmlns:a16="http://schemas.microsoft.com/office/drawing/2014/main" id="{243C6F52-8A28-1BD6-3EFD-35113DDC0C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3537" y="1690688"/>
            <a:ext cx="4459705" cy="4486274"/>
          </a:xfrm>
          <a:prstGeom prst="rect">
            <a:avLst/>
          </a:prstGeom>
        </p:spPr>
      </p:pic>
    </p:spTree>
    <p:extLst>
      <p:ext uri="{BB962C8B-B14F-4D97-AF65-F5344CB8AC3E}">
        <p14:creationId xmlns:p14="http://schemas.microsoft.com/office/powerpoint/2010/main" val="2518123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A4FAB-8F1A-6E6C-ABBA-FD45351059DF}"/>
              </a:ext>
            </a:extLst>
          </p:cNvPr>
          <p:cNvSpPr>
            <a:spLocks noGrp="1"/>
          </p:cNvSpPr>
          <p:nvPr>
            <p:ph type="title"/>
          </p:nvPr>
        </p:nvSpPr>
        <p:spPr/>
        <p:txBody>
          <a:bodyPr/>
          <a:lstStyle/>
          <a:p>
            <a:r>
              <a:rPr lang="en-US" dirty="0">
                <a:solidFill>
                  <a:schemeClr val="bg1"/>
                </a:solidFill>
              </a:rPr>
              <a:t>How Phishing Attacks work</a:t>
            </a:r>
          </a:p>
        </p:txBody>
      </p:sp>
      <p:sp>
        <p:nvSpPr>
          <p:cNvPr id="3" name="Content Placeholder 2">
            <a:extLst>
              <a:ext uri="{FF2B5EF4-FFF2-40B4-BE49-F238E27FC236}">
                <a16:creationId xmlns:a16="http://schemas.microsoft.com/office/drawing/2014/main" id="{DDA4CEAB-435A-6D55-3849-456468526994}"/>
              </a:ext>
            </a:extLst>
          </p:cNvPr>
          <p:cNvSpPr>
            <a:spLocks noGrp="1"/>
          </p:cNvSpPr>
          <p:nvPr>
            <p:ph idx="1"/>
          </p:nvPr>
        </p:nvSpPr>
        <p:spPr>
          <a:xfrm>
            <a:off x="838200" y="1825625"/>
            <a:ext cx="6204284" cy="4351338"/>
          </a:xfrm>
        </p:spPr>
        <p:txBody>
          <a:bodyPr>
            <a:normAutofit lnSpcReduction="10000"/>
          </a:bodyPr>
          <a:lstStyle/>
          <a:p>
            <a:pPr marL="0" indent="0">
              <a:buNone/>
            </a:pPr>
            <a:r>
              <a:rPr lang="en-US" sz="2000" dirty="0">
                <a:solidFill>
                  <a:schemeClr val="bg1"/>
                </a:solidFill>
              </a:rPr>
              <a:t>    Phishing attacks usually follow these steps:</a:t>
            </a:r>
          </a:p>
          <a:p>
            <a:endParaRPr lang="en-US" sz="2000" dirty="0">
              <a:solidFill>
                <a:schemeClr val="bg1"/>
              </a:solidFill>
            </a:endParaRPr>
          </a:p>
          <a:p>
            <a:r>
              <a:rPr lang="en-US" sz="2000" dirty="0">
                <a:solidFill>
                  <a:schemeClr val="bg1"/>
                </a:solidFill>
              </a:rPr>
              <a:t>1. The attacker creates a fake message that appears to come from a trusted source, such as a bank, company, or government agency.</a:t>
            </a:r>
          </a:p>
          <a:p>
            <a:r>
              <a:rPr lang="en-US" sz="2000" dirty="0">
                <a:solidFill>
                  <a:schemeClr val="bg1"/>
                </a:solidFill>
              </a:rPr>
              <a:t>2. The victim receives the message through email, SMS, social media, or a phone call.</a:t>
            </a:r>
          </a:p>
          <a:p>
            <a:r>
              <a:rPr lang="en-US" sz="2000" dirty="0">
                <a:solidFill>
                  <a:schemeClr val="bg1"/>
                </a:solidFill>
              </a:rPr>
              <a:t>3. The victim clicks a malicious link or opens an infected attachment.</a:t>
            </a:r>
          </a:p>
          <a:p>
            <a:r>
              <a:rPr lang="en-US" sz="2000" dirty="0">
                <a:solidFill>
                  <a:schemeClr val="bg1"/>
                </a:solidFill>
              </a:rPr>
              <a:t>4. The victim is redirected to a fake website or asked to enter sensitive information.</a:t>
            </a:r>
          </a:p>
          <a:p>
            <a:r>
              <a:rPr lang="en-US" sz="2000" dirty="0">
                <a:solidFill>
                  <a:schemeClr val="bg1"/>
                </a:solidFill>
              </a:rPr>
              <a:t>5. The attacker steals the information and may use it for identity theft, financial fraud, or unauthorized access to accounts.</a:t>
            </a:r>
          </a:p>
        </p:txBody>
      </p:sp>
      <p:pic>
        <p:nvPicPr>
          <p:cNvPr id="5" name="Picture 4">
            <a:extLst>
              <a:ext uri="{FF2B5EF4-FFF2-40B4-BE49-F238E27FC236}">
                <a16:creationId xmlns:a16="http://schemas.microsoft.com/office/drawing/2014/main" id="{AA08A85A-E1F4-4281-7F38-0C5CEEF2B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3116" y="1690688"/>
            <a:ext cx="4604084" cy="4351339"/>
          </a:xfrm>
          <a:prstGeom prst="rect">
            <a:avLst/>
          </a:prstGeom>
        </p:spPr>
      </p:pic>
    </p:spTree>
    <p:extLst>
      <p:ext uri="{BB962C8B-B14F-4D97-AF65-F5344CB8AC3E}">
        <p14:creationId xmlns:p14="http://schemas.microsoft.com/office/powerpoint/2010/main" val="1801962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AC7EF-2686-6B6C-4D29-941EFF33F1C8}"/>
              </a:ext>
            </a:extLst>
          </p:cNvPr>
          <p:cNvSpPr>
            <a:spLocks noGrp="1"/>
          </p:cNvSpPr>
          <p:nvPr>
            <p:ph type="title"/>
          </p:nvPr>
        </p:nvSpPr>
        <p:spPr/>
        <p:txBody>
          <a:bodyPr/>
          <a:lstStyle/>
          <a:p>
            <a:r>
              <a:rPr lang="en-US" dirty="0">
                <a:solidFill>
                  <a:schemeClr val="bg1"/>
                </a:solidFill>
              </a:rPr>
              <a:t>How To Identify Phishing Email</a:t>
            </a:r>
          </a:p>
        </p:txBody>
      </p:sp>
      <p:sp>
        <p:nvSpPr>
          <p:cNvPr id="3" name="Content Placeholder 2">
            <a:extLst>
              <a:ext uri="{FF2B5EF4-FFF2-40B4-BE49-F238E27FC236}">
                <a16:creationId xmlns:a16="http://schemas.microsoft.com/office/drawing/2014/main" id="{AED0C215-BEAC-EA36-4398-41DEAB46E659}"/>
              </a:ext>
            </a:extLst>
          </p:cNvPr>
          <p:cNvSpPr>
            <a:spLocks noGrp="1"/>
          </p:cNvSpPr>
          <p:nvPr>
            <p:ph idx="1"/>
          </p:nvPr>
        </p:nvSpPr>
        <p:spPr/>
        <p:txBody>
          <a:bodyPr>
            <a:normAutofit/>
          </a:bodyPr>
          <a:lstStyle/>
          <a:p>
            <a:r>
              <a:rPr lang="en-US" sz="2000" dirty="0">
                <a:solidFill>
                  <a:schemeClr val="bg1"/>
                </a:solidFill>
              </a:rPr>
              <a:t>Be cautious of emails that have the following warning signs:</a:t>
            </a:r>
          </a:p>
          <a:p>
            <a:endParaRPr lang="en-US" sz="2000" dirty="0">
              <a:solidFill>
                <a:schemeClr val="bg1"/>
              </a:solidFill>
            </a:endParaRPr>
          </a:p>
          <a:p>
            <a:r>
              <a:rPr lang="en-US" sz="2000" dirty="0">
                <a:solidFill>
                  <a:schemeClr val="bg1"/>
                </a:solidFill>
              </a:rPr>
              <a:t> Suspicious sender email address (it may look similar to a legitimate one but contain small changes).</a:t>
            </a:r>
          </a:p>
          <a:p>
            <a:r>
              <a:rPr lang="en-US" sz="2000" dirty="0">
                <a:solidFill>
                  <a:schemeClr val="bg1"/>
                </a:solidFill>
              </a:rPr>
              <a:t> Urgent or threatening language that pressures you to act immediately.</a:t>
            </a:r>
          </a:p>
          <a:p>
            <a:r>
              <a:rPr lang="en-US" sz="2000" dirty="0">
                <a:solidFill>
                  <a:schemeClr val="bg1"/>
                </a:solidFill>
              </a:rPr>
              <a:t> Spelling and grammar mistakes in the message.</a:t>
            </a:r>
          </a:p>
          <a:p>
            <a:r>
              <a:rPr lang="en-US" sz="2000" dirty="0">
                <a:solidFill>
                  <a:schemeClr val="bg1"/>
                </a:solidFill>
              </a:rPr>
              <a:t> Unexpected attachments or links that you were not expecting.</a:t>
            </a:r>
          </a:p>
          <a:p>
            <a:r>
              <a:rPr lang="en-US" sz="2000" dirty="0">
                <a:solidFill>
                  <a:schemeClr val="bg1"/>
                </a:solidFill>
              </a:rPr>
              <a:t> Requests for sensitive information, such as passwords, banking details, or personal information.</a:t>
            </a:r>
          </a:p>
          <a:p>
            <a:r>
              <a:rPr lang="en-US" sz="2000" dirty="0">
                <a:solidFill>
                  <a:schemeClr val="bg1"/>
                </a:solidFill>
              </a:rPr>
              <a:t> Generic greetings like “Dear Customer” instead of your actual name.</a:t>
            </a:r>
          </a:p>
        </p:txBody>
      </p:sp>
    </p:spTree>
    <p:extLst>
      <p:ext uri="{BB962C8B-B14F-4D97-AF65-F5344CB8AC3E}">
        <p14:creationId xmlns:p14="http://schemas.microsoft.com/office/powerpoint/2010/main" val="3429593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23B98-3BB6-5B17-20B9-C793F7E3989F}"/>
              </a:ext>
            </a:extLst>
          </p:cNvPr>
          <p:cNvSpPr>
            <a:spLocks noGrp="1"/>
          </p:cNvSpPr>
          <p:nvPr>
            <p:ph type="title"/>
          </p:nvPr>
        </p:nvSpPr>
        <p:spPr/>
        <p:txBody>
          <a:bodyPr/>
          <a:lstStyle/>
          <a:p>
            <a:r>
              <a:rPr lang="en-US" dirty="0">
                <a:solidFill>
                  <a:schemeClr val="bg1"/>
                </a:solidFill>
              </a:rPr>
              <a:t>How To Spot Fake Website and URLs </a:t>
            </a:r>
          </a:p>
        </p:txBody>
      </p:sp>
      <p:sp>
        <p:nvSpPr>
          <p:cNvPr id="3" name="Content Placeholder 2">
            <a:extLst>
              <a:ext uri="{FF2B5EF4-FFF2-40B4-BE49-F238E27FC236}">
                <a16:creationId xmlns:a16="http://schemas.microsoft.com/office/drawing/2014/main" id="{8E283C80-43A4-CC54-F200-0BC8B12ADE27}"/>
              </a:ext>
            </a:extLst>
          </p:cNvPr>
          <p:cNvSpPr>
            <a:spLocks noGrp="1"/>
          </p:cNvSpPr>
          <p:nvPr>
            <p:ph idx="1"/>
          </p:nvPr>
        </p:nvSpPr>
        <p:spPr>
          <a:xfrm>
            <a:off x="838200" y="1825625"/>
            <a:ext cx="6316579" cy="4351338"/>
          </a:xfrm>
        </p:spPr>
        <p:txBody>
          <a:bodyPr>
            <a:normAutofit fontScale="92500" lnSpcReduction="10000"/>
          </a:bodyPr>
          <a:lstStyle/>
          <a:p>
            <a:r>
              <a:rPr lang="en-US" sz="2000" dirty="0">
                <a:solidFill>
                  <a:schemeClr val="bg1"/>
                </a:solidFill>
              </a:rPr>
              <a:t>Before entering personal information on any website, always check for these warning signs:</a:t>
            </a:r>
          </a:p>
          <a:p>
            <a:endParaRPr lang="en-US" sz="2000" dirty="0">
              <a:solidFill>
                <a:schemeClr val="bg1"/>
              </a:solidFill>
            </a:endParaRPr>
          </a:p>
          <a:p>
            <a:r>
              <a:rPr lang="en-US" sz="2000" dirty="0">
                <a:solidFill>
                  <a:schemeClr val="bg1"/>
                </a:solidFill>
              </a:rPr>
              <a:t> Look for HTTPS: Secure websites begin with https:// and display a padlock icon.</a:t>
            </a:r>
          </a:p>
          <a:p>
            <a:r>
              <a:rPr lang="en-US" sz="2000" dirty="0">
                <a:solidFill>
                  <a:schemeClr val="bg1"/>
                </a:solidFill>
              </a:rPr>
              <a:t> Check the domain name carefully: Attackers often create fake websites with slightly altered URLs (e.g., arnazon.com instead of amazon.com).</a:t>
            </a:r>
          </a:p>
          <a:p>
            <a:r>
              <a:rPr lang="en-US" sz="2000" dirty="0">
                <a:solidFill>
                  <a:schemeClr val="bg1"/>
                </a:solidFill>
              </a:rPr>
              <a:t> Beware of poor website design: Low-quality images, spelling mistakes, or broken links can indicate a fake site.</a:t>
            </a:r>
          </a:p>
          <a:p>
            <a:r>
              <a:rPr lang="en-US" sz="2000" dirty="0">
                <a:solidFill>
                  <a:schemeClr val="bg1"/>
                </a:solidFill>
              </a:rPr>
              <a:t> Avoid clicking suspicious links: Instead, type the official website address directly into your browser.</a:t>
            </a:r>
          </a:p>
          <a:p>
            <a:r>
              <a:rPr lang="en-US" sz="2000" dirty="0">
                <a:solidFill>
                  <a:schemeClr val="bg1"/>
                </a:solidFill>
              </a:rPr>
              <a:t> Verify before logging in: If a website asks for sensitive information unexpectedly, confirm its authenticity before proceeding.</a:t>
            </a:r>
          </a:p>
        </p:txBody>
      </p:sp>
      <p:pic>
        <p:nvPicPr>
          <p:cNvPr id="5" name="Picture 4">
            <a:extLst>
              <a:ext uri="{FF2B5EF4-FFF2-40B4-BE49-F238E27FC236}">
                <a16:creationId xmlns:a16="http://schemas.microsoft.com/office/drawing/2014/main" id="{0063E703-AAAD-1B71-87DB-19A24ABFE9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0" y="1690688"/>
            <a:ext cx="4796589" cy="4486275"/>
          </a:xfrm>
          <a:prstGeom prst="rect">
            <a:avLst/>
          </a:prstGeom>
        </p:spPr>
      </p:pic>
    </p:spTree>
    <p:extLst>
      <p:ext uri="{BB962C8B-B14F-4D97-AF65-F5344CB8AC3E}">
        <p14:creationId xmlns:p14="http://schemas.microsoft.com/office/powerpoint/2010/main" val="1239131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9BEE1-BAAD-D748-E551-701C49DCC49C}"/>
              </a:ext>
            </a:extLst>
          </p:cNvPr>
          <p:cNvSpPr>
            <a:spLocks noGrp="1"/>
          </p:cNvSpPr>
          <p:nvPr>
            <p:ph type="title"/>
          </p:nvPr>
        </p:nvSpPr>
        <p:spPr/>
        <p:txBody>
          <a:bodyPr/>
          <a:lstStyle/>
          <a:p>
            <a:r>
              <a:rPr lang="en-US" dirty="0">
                <a:solidFill>
                  <a:schemeClr val="bg1"/>
                </a:solidFill>
              </a:rPr>
              <a:t>Social Engineering Techniques</a:t>
            </a:r>
          </a:p>
        </p:txBody>
      </p:sp>
      <p:sp>
        <p:nvSpPr>
          <p:cNvPr id="3" name="Content Placeholder 2">
            <a:extLst>
              <a:ext uri="{FF2B5EF4-FFF2-40B4-BE49-F238E27FC236}">
                <a16:creationId xmlns:a16="http://schemas.microsoft.com/office/drawing/2014/main" id="{076169E4-8594-275A-B215-51833CFCFA2D}"/>
              </a:ext>
            </a:extLst>
          </p:cNvPr>
          <p:cNvSpPr>
            <a:spLocks noGrp="1"/>
          </p:cNvSpPr>
          <p:nvPr>
            <p:ph idx="1"/>
          </p:nvPr>
        </p:nvSpPr>
        <p:spPr/>
        <p:txBody>
          <a:bodyPr>
            <a:normAutofit/>
          </a:bodyPr>
          <a:lstStyle/>
          <a:p>
            <a:r>
              <a:rPr lang="en-US" sz="2000" dirty="0">
                <a:solidFill>
                  <a:schemeClr val="bg1"/>
                </a:solidFill>
              </a:rPr>
              <a:t>Social engineering is the use of psychological manipulation to trick people into revealing confidential information or performing actions that compromise security.</a:t>
            </a:r>
          </a:p>
          <a:p>
            <a:endParaRPr lang="en-US" sz="2000" dirty="0">
              <a:solidFill>
                <a:schemeClr val="bg1"/>
              </a:solidFill>
            </a:endParaRPr>
          </a:p>
          <a:p>
            <a:r>
              <a:rPr lang="en-US" sz="2000" dirty="0">
                <a:solidFill>
                  <a:schemeClr val="bg1"/>
                </a:solidFill>
              </a:rPr>
              <a:t>Common Social Engineering Techniques</a:t>
            </a:r>
          </a:p>
          <a:p>
            <a:endParaRPr lang="en-US" sz="2000" dirty="0">
              <a:solidFill>
                <a:schemeClr val="bg1"/>
              </a:solidFill>
            </a:endParaRPr>
          </a:p>
          <a:p>
            <a:r>
              <a:rPr lang="en-US" sz="2000" dirty="0">
                <a:solidFill>
                  <a:schemeClr val="bg1"/>
                </a:solidFill>
              </a:rPr>
              <a:t> Authority: The attacker pretends to be a bank official, manager, or IT support staff.</a:t>
            </a:r>
          </a:p>
          <a:p>
            <a:r>
              <a:rPr lang="en-US" sz="2000" dirty="0">
                <a:solidFill>
                  <a:schemeClr val="bg1"/>
                </a:solidFill>
              </a:rPr>
              <a:t> Urgency: The victim is pressured to act immediately to avoid negative consequences.</a:t>
            </a:r>
          </a:p>
          <a:p>
            <a:r>
              <a:rPr lang="en-US" sz="2000" dirty="0">
                <a:solidFill>
                  <a:schemeClr val="bg1"/>
                </a:solidFill>
              </a:rPr>
              <a:t> Fear: The attacker claims an account has been compromised or that the victim is in trouble.</a:t>
            </a:r>
          </a:p>
          <a:p>
            <a:r>
              <a:rPr lang="en-US" sz="2000" dirty="0">
                <a:solidFill>
                  <a:schemeClr val="bg1"/>
                </a:solidFill>
              </a:rPr>
              <a:t> Curiosity: The attacker uses messages such as “You’ve won a prize” or “See who viewed your profile” to encourage clicks.</a:t>
            </a:r>
          </a:p>
          <a:p>
            <a:r>
              <a:rPr lang="en-US" sz="2000" dirty="0">
                <a:solidFill>
                  <a:schemeClr val="bg1"/>
                </a:solidFill>
              </a:rPr>
              <a:t> Trust: The attacker impersonates a friend, colleague, or family member to gain confidence.</a:t>
            </a:r>
          </a:p>
        </p:txBody>
      </p:sp>
    </p:spTree>
    <p:extLst>
      <p:ext uri="{BB962C8B-B14F-4D97-AF65-F5344CB8AC3E}">
        <p14:creationId xmlns:p14="http://schemas.microsoft.com/office/powerpoint/2010/main" val="2916642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2296-0B26-D20D-2E5B-282CE89EDA99}"/>
              </a:ext>
            </a:extLst>
          </p:cNvPr>
          <p:cNvSpPr>
            <a:spLocks noGrp="1"/>
          </p:cNvSpPr>
          <p:nvPr>
            <p:ph type="title"/>
          </p:nvPr>
        </p:nvSpPr>
        <p:spPr/>
        <p:txBody>
          <a:bodyPr/>
          <a:lstStyle/>
          <a:p>
            <a:r>
              <a:rPr lang="en-US" dirty="0">
                <a:solidFill>
                  <a:schemeClr val="bg1"/>
                </a:solidFill>
              </a:rPr>
              <a:t>Best Practices to Stay Safe From Phishing</a:t>
            </a:r>
          </a:p>
        </p:txBody>
      </p:sp>
      <p:sp>
        <p:nvSpPr>
          <p:cNvPr id="3" name="Content Placeholder 2">
            <a:extLst>
              <a:ext uri="{FF2B5EF4-FFF2-40B4-BE49-F238E27FC236}">
                <a16:creationId xmlns:a16="http://schemas.microsoft.com/office/drawing/2014/main" id="{7A4CA633-C8F4-1FAA-3085-6E3AC7941031}"/>
              </a:ext>
            </a:extLst>
          </p:cNvPr>
          <p:cNvSpPr>
            <a:spLocks noGrp="1"/>
          </p:cNvSpPr>
          <p:nvPr>
            <p:ph idx="1"/>
          </p:nvPr>
        </p:nvSpPr>
        <p:spPr/>
        <p:txBody>
          <a:bodyPr>
            <a:normAutofit/>
          </a:bodyPr>
          <a:lstStyle/>
          <a:p>
            <a:r>
              <a:rPr lang="en-US" sz="2000" dirty="0">
                <a:solidFill>
                  <a:schemeClr val="bg1"/>
                </a:solidFill>
              </a:rPr>
              <a:t>Follow these cybersecurity best practices to reduce the risk of phishing attacks:</a:t>
            </a:r>
          </a:p>
          <a:p>
            <a:endParaRPr lang="en-US" sz="2000" dirty="0">
              <a:solidFill>
                <a:schemeClr val="bg1"/>
              </a:solidFill>
            </a:endParaRPr>
          </a:p>
          <a:p>
            <a:r>
              <a:rPr lang="en-US" sz="2000" dirty="0">
                <a:solidFill>
                  <a:schemeClr val="bg1"/>
                </a:solidFill>
              </a:rPr>
              <a:t> Verify the sender’s email address before responding to any message.</a:t>
            </a:r>
          </a:p>
          <a:p>
            <a:r>
              <a:rPr lang="en-US" sz="2000" dirty="0">
                <a:solidFill>
                  <a:schemeClr val="bg1"/>
                </a:solidFill>
              </a:rPr>
              <a:t> Do not click suspicious links or download unexpected attachments.</a:t>
            </a:r>
          </a:p>
          <a:p>
            <a:r>
              <a:rPr lang="en-US" sz="2000" dirty="0">
                <a:solidFill>
                  <a:schemeClr val="bg1"/>
                </a:solidFill>
              </a:rPr>
              <a:t> Use strong, unique passwords for different online accounts.</a:t>
            </a:r>
          </a:p>
          <a:p>
            <a:r>
              <a:rPr lang="en-US" sz="2000" dirty="0">
                <a:solidFill>
                  <a:schemeClr val="bg1"/>
                </a:solidFill>
              </a:rPr>
              <a:t> Enable Multi-Factor Authentication (MFA) whenever possible.</a:t>
            </a:r>
          </a:p>
          <a:p>
            <a:r>
              <a:rPr lang="en-US" sz="2000" dirty="0">
                <a:solidFill>
                  <a:schemeClr val="bg1"/>
                </a:solidFill>
              </a:rPr>
              <a:t> Keep your operating system and applications updated with the latest security patches.</a:t>
            </a:r>
          </a:p>
          <a:p>
            <a:r>
              <a:rPr lang="en-US" sz="2000" dirty="0">
                <a:solidFill>
                  <a:schemeClr val="bg1"/>
                </a:solidFill>
              </a:rPr>
              <a:t> Think before you click. If a message seems suspicious, verify it through an official communication channel.</a:t>
            </a:r>
          </a:p>
        </p:txBody>
      </p:sp>
    </p:spTree>
    <p:extLst>
      <p:ext uri="{BB962C8B-B14F-4D97-AF65-F5344CB8AC3E}">
        <p14:creationId xmlns:p14="http://schemas.microsoft.com/office/powerpoint/2010/main" val="3828773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68AB6-09A4-E0C4-F887-5A1DDD7CB7E0}"/>
              </a:ext>
            </a:extLst>
          </p:cNvPr>
          <p:cNvSpPr>
            <a:spLocks noGrp="1"/>
          </p:cNvSpPr>
          <p:nvPr>
            <p:ph type="title"/>
          </p:nvPr>
        </p:nvSpPr>
        <p:spPr/>
        <p:txBody>
          <a:bodyPr/>
          <a:lstStyle/>
          <a:p>
            <a:r>
              <a:rPr lang="en-US" dirty="0">
                <a:solidFill>
                  <a:schemeClr val="bg1"/>
                </a:solidFill>
              </a:rPr>
              <a:t>Interactive Quiz </a:t>
            </a:r>
          </a:p>
        </p:txBody>
      </p:sp>
      <p:sp>
        <p:nvSpPr>
          <p:cNvPr id="3" name="Content Placeholder 2">
            <a:extLst>
              <a:ext uri="{FF2B5EF4-FFF2-40B4-BE49-F238E27FC236}">
                <a16:creationId xmlns:a16="http://schemas.microsoft.com/office/drawing/2014/main" id="{A1F76650-143F-0441-5F3F-CB5838A6E333}"/>
              </a:ext>
            </a:extLst>
          </p:cNvPr>
          <p:cNvSpPr>
            <a:spLocks noGrp="1"/>
          </p:cNvSpPr>
          <p:nvPr>
            <p:ph idx="1"/>
          </p:nvPr>
        </p:nvSpPr>
        <p:spPr>
          <a:xfrm>
            <a:off x="838200" y="1825626"/>
            <a:ext cx="10515600" cy="3837238"/>
          </a:xfrm>
        </p:spPr>
        <p:txBody>
          <a:bodyPr>
            <a:normAutofit/>
          </a:bodyPr>
          <a:lstStyle/>
          <a:p>
            <a:pPr marL="0" indent="0">
              <a:buNone/>
            </a:pPr>
            <a:r>
              <a:rPr lang="en-US" sz="2000" dirty="0"/>
              <a:t>  </a:t>
            </a:r>
            <a:r>
              <a:rPr lang="en-US" sz="2000" dirty="0">
                <a:solidFill>
                  <a:schemeClr val="bg1"/>
                </a:solidFill>
              </a:rPr>
              <a:t>Question 1</a:t>
            </a:r>
          </a:p>
          <a:p>
            <a:endParaRPr lang="en-US" sz="2000" dirty="0">
              <a:solidFill>
                <a:schemeClr val="bg1"/>
              </a:solidFill>
            </a:endParaRPr>
          </a:p>
          <a:p>
            <a:pPr marL="0" indent="0">
              <a:buNone/>
            </a:pPr>
            <a:r>
              <a:rPr lang="en-US" sz="2000" dirty="0">
                <a:solidFill>
                  <a:schemeClr val="bg1"/>
                </a:solidFill>
              </a:rPr>
              <a:t>  What is the main purpose of a phishing attack?</a:t>
            </a:r>
          </a:p>
          <a:p>
            <a:endParaRPr lang="en-US" sz="2000" dirty="0">
              <a:solidFill>
                <a:schemeClr val="bg1"/>
              </a:solidFill>
            </a:endParaRPr>
          </a:p>
          <a:p>
            <a:r>
              <a:rPr lang="en-US" sz="2000" dirty="0">
                <a:solidFill>
                  <a:schemeClr val="bg1"/>
                </a:solidFill>
              </a:rPr>
              <a:t>A. To improve internet speed</a:t>
            </a:r>
          </a:p>
          <a:p>
            <a:r>
              <a:rPr lang="en-US" sz="2000" dirty="0">
                <a:solidFill>
                  <a:schemeClr val="bg1"/>
                </a:solidFill>
              </a:rPr>
              <a:t>B. To steal sensitive information ✅</a:t>
            </a:r>
          </a:p>
          <a:p>
            <a:r>
              <a:rPr lang="en-US" sz="2000" dirty="0">
                <a:solidFill>
                  <a:schemeClr val="bg1"/>
                </a:solidFill>
              </a:rPr>
              <a:t>C. To update software</a:t>
            </a:r>
          </a:p>
          <a:p>
            <a:r>
              <a:rPr lang="en-US" sz="2000" dirty="0">
                <a:solidFill>
                  <a:schemeClr val="bg1"/>
                </a:solidFill>
              </a:rPr>
              <a:t>D. To block advertisements</a:t>
            </a:r>
          </a:p>
          <a:p>
            <a:endParaRPr lang="en-US" sz="2000" dirty="0"/>
          </a:p>
          <a:p>
            <a:endParaRPr lang="en-US" sz="2000" dirty="0"/>
          </a:p>
        </p:txBody>
      </p:sp>
    </p:spTree>
    <p:extLst>
      <p:ext uri="{BB962C8B-B14F-4D97-AF65-F5344CB8AC3E}">
        <p14:creationId xmlns:p14="http://schemas.microsoft.com/office/powerpoint/2010/main" val="3380405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631-3DE0-D92C-4461-AE6ABD5B0192}"/>
              </a:ext>
            </a:extLst>
          </p:cNvPr>
          <p:cNvSpPr>
            <a:spLocks noGrp="1"/>
          </p:cNvSpPr>
          <p:nvPr>
            <p:ph type="title"/>
          </p:nvPr>
        </p:nvSpPr>
        <p:spPr/>
        <p:txBody>
          <a:bodyPr/>
          <a:lstStyle/>
          <a:p>
            <a:r>
              <a:rPr lang="en-US" dirty="0">
                <a:solidFill>
                  <a:schemeClr val="bg1"/>
                </a:solidFill>
              </a:rPr>
              <a:t>Question 2</a:t>
            </a:r>
          </a:p>
        </p:txBody>
      </p:sp>
      <p:sp>
        <p:nvSpPr>
          <p:cNvPr id="3" name="Content Placeholder 2">
            <a:extLst>
              <a:ext uri="{FF2B5EF4-FFF2-40B4-BE49-F238E27FC236}">
                <a16:creationId xmlns:a16="http://schemas.microsoft.com/office/drawing/2014/main" id="{140FAEAA-06E6-67AA-8AC5-F937D1530C3B}"/>
              </a:ext>
            </a:extLst>
          </p:cNvPr>
          <p:cNvSpPr>
            <a:spLocks noGrp="1"/>
          </p:cNvSpPr>
          <p:nvPr>
            <p:ph idx="1"/>
          </p:nvPr>
        </p:nvSpPr>
        <p:spPr>
          <a:xfrm>
            <a:off x="838200" y="1825625"/>
            <a:ext cx="10515600" cy="3885364"/>
          </a:xfrm>
        </p:spPr>
        <p:txBody>
          <a:bodyPr>
            <a:normAutofit/>
          </a:bodyPr>
          <a:lstStyle/>
          <a:p>
            <a:pPr marL="0" indent="0">
              <a:buNone/>
            </a:pPr>
            <a:r>
              <a:rPr lang="en-US" sz="2000" dirty="0">
                <a:solidFill>
                  <a:schemeClr val="bg1"/>
                </a:solidFill>
              </a:rPr>
              <a:t>   Which of the following is a warning sign of a phishing email?</a:t>
            </a:r>
          </a:p>
          <a:p>
            <a:endParaRPr lang="en-US" sz="2000" dirty="0">
              <a:solidFill>
                <a:schemeClr val="bg1"/>
              </a:solidFill>
            </a:endParaRPr>
          </a:p>
          <a:p>
            <a:r>
              <a:rPr lang="en-US" sz="2000" dirty="0">
                <a:solidFill>
                  <a:schemeClr val="bg1"/>
                </a:solidFill>
              </a:rPr>
              <a:t>A. Professional language</a:t>
            </a:r>
          </a:p>
          <a:p>
            <a:r>
              <a:rPr lang="en-US" sz="2000" dirty="0">
                <a:solidFill>
                  <a:schemeClr val="bg1"/>
                </a:solidFill>
              </a:rPr>
              <a:t>B. A trusted sender you know personally</a:t>
            </a:r>
          </a:p>
          <a:p>
            <a:r>
              <a:rPr lang="en-US" sz="2000" dirty="0">
                <a:solidFill>
                  <a:schemeClr val="bg1"/>
                </a:solidFill>
              </a:rPr>
              <a:t>C. Urgent requests for personal information ✅</a:t>
            </a:r>
          </a:p>
          <a:p>
            <a:r>
              <a:rPr lang="en-US" sz="2000" dirty="0">
                <a:solidFill>
                  <a:schemeClr val="bg1"/>
                </a:solidFill>
              </a:rPr>
              <a:t>D. A secure HTTPS website</a:t>
            </a:r>
            <a:br>
              <a:rPr lang="en-US" sz="2000" dirty="0">
                <a:solidFill>
                  <a:schemeClr val="bg1"/>
                </a:solidFill>
              </a:rPr>
            </a:br>
            <a:endParaRPr lang="en-US" sz="2000" dirty="0">
              <a:solidFill>
                <a:schemeClr val="bg1"/>
              </a:solidFill>
            </a:endParaRPr>
          </a:p>
          <a:p>
            <a:endParaRPr lang="en-US" sz="2000" dirty="0"/>
          </a:p>
        </p:txBody>
      </p:sp>
    </p:spTree>
    <p:extLst>
      <p:ext uri="{BB962C8B-B14F-4D97-AF65-F5344CB8AC3E}">
        <p14:creationId xmlns:p14="http://schemas.microsoft.com/office/powerpoint/2010/main" val="900200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659CF-7ECE-930C-3A38-3D79DC2CA415}"/>
              </a:ext>
            </a:extLst>
          </p:cNvPr>
          <p:cNvSpPr>
            <a:spLocks noGrp="1"/>
          </p:cNvSpPr>
          <p:nvPr>
            <p:ph type="title"/>
          </p:nvPr>
        </p:nvSpPr>
        <p:spPr/>
        <p:txBody>
          <a:bodyPr/>
          <a:lstStyle/>
          <a:p>
            <a:r>
              <a:rPr lang="en-US" dirty="0">
                <a:solidFill>
                  <a:schemeClr val="bg1"/>
                </a:solidFill>
              </a:rPr>
              <a:t>Question 3</a:t>
            </a:r>
          </a:p>
        </p:txBody>
      </p:sp>
      <p:sp>
        <p:nvSpPr>
          <p:cNvPr id="3" name="Content Placeholder 2">
            <a:extLst>
              <a:ext uri="{FF2B5EF4-FFF2-40B4-BE49-F238E27FC236}">
                <a16:creationId xmlns:a16="http://schemas.microsoft.com/office/drawing/2014/main" id="{6D3A34C4-B550-9A7B-A80A-C4899587E9F4}"/>
              </a:ext>
            </a:extLst>
          </p:cNvPr>
          <p:cNvSpPr>
            <a:spLocks noGrp="1"/>
          </p:cNvSpPr>
          <p:nvPr>
            <p:ph idx="1"/>
          </p:nvPr>
        </p:nvSpPr>
        <p:spPr/>
        <p:txBody>
          <a:bodyPr>
            <a:normAutofit/>
          </a:bodyPr>
          <a:lstStyle/>
          <a:p>
            <a:pPr marL="0" indent="0">
              <a:buNone/>
            </a:pPr>
            <a:r>
              <a:rPr lang="en-US" sz="2400" dirty="0"/>
              <a:t>   </a:t>
            </a:r>
            <a:r>
              <a:rPr lang="en-US" sz="2400" dirty="0">
                <a:solidFill>
                  <a:schemeClr val="bg1"/>
                </a:solidFill>
              </a:rPr>
              <a:t>What should you do before clicking a link in an email?</a:t>
            </a:r>
          </a:p>
          <a:p>
            <a:pPr marL="0" indent="0">
              <a:buNone/>
            </a:pPr>
            <a:endParaRPr lang="en-US" sz="2400" dirty="0">
              <a:solidFill>
                <a:schemeClr val="bg1"/>
              </a:solidFill>
            </a:endParaRPr>
          </a:p>
          <a:p>
            <a:r>
              <a:rPr lang="en-US" sz="2400" dirty="0">
                <a:solidFill>
                  <a:schemeClr val="bg1"/>
                </a:solidFill>
              </a:rPr>
              <a:t>A. Click it immediately</a:t>
            </a:r>
          </a:p>
          <a:p>
            <a:r>
              <a:rPr lang="en-US" sz="2400" dirty="0">
                <a:solidFill>
                  <a:schemeClr val="bg1"/>
                </a:solidFill>
              </a:rPr>
              <a:t>B. Check the URL and verify the sender ✅</a:t>
            </a:r>
          </a:p>
          <a:p>
            <a:r>
              <a:rPr lang="en-US" sz="2400" dirty="0">
                <a:solidFill>
                  <a:schemeClr val="bg1"/>
                </a:solidFill>
              </a:rPr>
              <a:t>C. Forward it to friends</a:t>
            </a:r>
          </a:p>
          <a:p>
            <a:r>
              <a:rPr lang="en-US" sz="2400" dirty="0">
                <a:solidFill>
                  <a:schemeClr val="bg1"/>
                </a:solidFill>
              </a:rPr>
              <a:t>D. Ignore all emails</a:t>
            </a:r>
          </a:p>
          <a:p>
            <a:pPr marL="0" indent="0">
              <a:buNone/>
            </a:pPr>
            <a:br>
              <a:rPr lang="en-US" dirty="0">
                <a:solidFill>
                  <a:schemeClr val="bg1"/>
                </a:solidFill>
              </a:rPr>
            </a:br>
            <a:endParaRPr lang="en-US" dirty="0">
              <a:solidFill>
                <a:schemeClr val="bg1"/>
              </a:solidFill>
            </a:endParaRPr>
          </a:p>
          <a:p>
            <a:endParaRPr lang="en-US" dirty="0"/>
          </a:p>
        </p:txBody>
      </p:sp>
    </p:spTree>
    <p:extLst>
      <p:ext uri="{BB962C8B-B14F-4D97-AF65-F5344CB8AC3E}">
        <p14:creationId xmlns:p14="http://schemas.microsoft.com/office/powerpoint/2010/main" val="324105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FB1E6-4668-51D4-5751-9CDE362D2CB2}"/>
              </a:ext>
            </a:extLst>
          </p:cNvPr>
          <p:cNvSpPr>
            <a:spLocks noGrp="1"/>
          </p:cNvSpPr>
          <p:nvPr>
            <p:ph type="title"/>
          </p:nvPr>
        </p:nvSpPr>
        <p:spPr/>
        <p:txBody>
          <a:bodyPr/>
          <a:lstStyle/>
          <a:p>
            <a:r>
              <a:rPr lang="en-US" dirty="0">
                <a:solidFill>
                  <a:schemeClr val="bg1"/>
                </a:solidFill>
              </a:rPr>
              <a:t>Question 4</a:t>
            </a:r>
          </a:p>
        </p:txBody>
      </p:sp>
      <p:sp>
        <p:nvSpPr>
          <p:cNvPr id="3" name="Content Placeholder 2">
            <a:extLst>
              <a:ext uri="{FF2B5EF4-FFF2-40B4-BE49-F238E27FC236}">
                <a16:creationId xmlns:a16="http://schemas.microsoft.com/office/drawing/2014/main" id="{1D2E679B-A5E5-D835-F1E9-79B092D4B917}"/>
              </a:ext>
            </a:extLst>
          </p:cNvPr>
          <p:cNvSpPr>
            <a:spLocks noGrp="1"/>
          </p:cNvSpPr>
          <p:nvPr>
            <p:ph idx="1"/>
          </p:nvPr>
        </p:nvSpPr>
        <p:spPr/>
        <p:txBody>
          <a:bodyPr>
            <a:normAutofit/>
          </a:bodyPr>
          <a:lstStyle/>
          <a:p>
            <a:pPr marL="0" indent="0">
              <a:buNone/>
            </a:pPr>
            <a:r>
              <a:rPr lang="en-US" sz="2000" dirty="0">
                <a:solidFill>
                  <a:schemeClr val="bg1"/>
                </a:solidFill>
              </a:rPr>
              <a:t>   What does MFA stand for?</a:t>
            </a:r>
            <a:br>
              <a:rPr lang="en-US" sz="2000" dirty="0">
                <a:solidFill>
                  <a:schemeClr val="bg1"/>
                </a:solidFill>
              </a:rPr>
            </a:br>
            <a:endParaRPr lang="en-US" sz="2000" dirty="0">
              <a:solidFill>
                <a:schemeClr val="bg1"/>
              </a:solidFill>
            </a:endParaRPr>
          </a:p>
          <a:p>
            <a:r>
              <a:rPr lang="en-US" sz="2000" dirty="0">
                <a:solidFill>
                  <a:schemeClr val="bg1"/>
                </a:solidFill>
              </a:rPr>
              <a:t>A. Multiple File Access</a:t>
            </a:r>
          </a:p>
          <a:p>
            <a:r>
              <a:rPr lang="en-US" sz="2000" dirty="0">
                <a:solidFill>
                  <a:schemeClr val="bg1"/>
                </a:solidFill>
              </a:rPr>
              <a:t>B. Multi-Factor Authentication ✅</a:t>
            </a:r>
          </a:p>
          <a:p>
            <a:r>
              <a:rPr lang="en-US" sz="2000" dirty="0">
                <a:solidFill>
                  <a:schemeClr val="bg1"/>
                </a:solidFill>
              </a:rPr>
              <a:t>C. Mobile File Application</a:t>
            </a:r>
          </a:p>
          <a:p>
            <a:r>
              <a:rPr lang="en-US" sz="2000" dirty="0">
                <a:solidFill>
                  <a:schemeClr val="bg1"/>
                </a:solidFill>
              </a:rPr>
              <a:t>D. Managed Firewall Access</a:t>
            </a:r>
          </a:p>
          <a:p>
            <a:endParaRPr lang="en-US" sz="2000" dirty="0"/>
          </a:p>
        </p:txBody>
      </p:sp>
      <p:sp>
        <p:nvSpPr>
          <p:cNvPr id="4" name="TextBox 3">
            <a:extLst>
              <a:ext uri="{FF2B5EF4-FFF2-40B4-BE49-F238E27FC236}">
                <a16:creationId xmlns:a16="http://schemas.microsoft.com/office/drawing/2014/main" id="{31990772-2947-8720-FD52-E35DD6B9A15D}"/>
              </a:ext>
            </a:extLst>
          </p:cNvPr>
          <p:cNvSpPr txBox="1"/>
          <p:nvPr/>
        </p:nvSpPr>
        <p:spPr>
          <a:xfrm>
            <a:off x="5811253" y="4355432"/>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707410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C0A97-9C9B-ACFE-1A59-00FD681FEA78}"/>
              </a:ext>
            </a:extLst>
          </p:cNvPr>
          <p:cNvSpPr>
            <a:spLocks noGrp="1"/>
          </p:cNvSpPr>
          <p:nvPr>
            <p:ph type="title"/>
          </p:nvPr>
        </p:nvSpPr>
        <p:spPr/>
        <p:txBody>
          <a:bodyPr/>
          <a:lstStyle/>
          <a:p>
            <a:r>
              <a:rPr lang="en-US" dirty="0">
                <a:solidFill>
                  <a:schemeClr val="bg1"/>
                </a:solidFill>
              </a:rPr>
              <a:t>Real-Life Example: Phishing Attack</a:t>
            </a:r>
          </a:p>
        </p:txBody>
      </p:sp>
      <p:sp>
        <p:nvSpPr>
          <p:cNvPr id="3" name="Content Placeholder 2">
            <a:extLst>
              <a:ext uri="{FF2B5EF4-FFF2-40B4-BE49-F238E27FC236}">
                <a16:creationId xmlns:a16="http://schemas.microsoft.com/office/drawing/2014/main" id="{C31A3394-3355-D565-2B7B-80AD22580ED4}"/>
              </a:ext>
            </a:extLst>
          </p:cNvPr>
          <p:cNvSpPr>
            <a:spLocks noGrp="1"/>
          </p:cNvSpPr>
          <p:nvPr>
            <p:ph idx="1"/>
          </p:nvPr>
        </p:nvSpPr>
        <p:spPr/>
        <p:txBody>
          <a:bodyPr>
            <a:normAutofit lnSpcReduction="10000"/>
          </a:bodyPr>
          <a:lstStyle/>
          <a:p>
            <a:r>
              <a:rPr lang="en-US" sz="2000" dirty="0">
                <a:solidFill>
                  <a:schemeClr val="bg1"/>
                </a:solidFill>
              </a:rPr>
              <a:t>Example: An employee receives an email claiming to be from their bank.</a:t>
            </a:r>
          </a:p>
          <a:p>
            <a:endParaRPr lang="en-US" sz="2000" dirty="0">
              <a:solidFill>
                <a:schemeClr val="bg1"/>
              </a:solidFill>
            </a:endParaRPr>
          </a:p>
          <a:p>
            <a:r>
              <a:rPr lang="en-US" sz="2000" dirty="0">
                <a:solidFill>
                  <a:schemeClr val="bg1"/>
                </a:solidFill>
              </a:rPr>
              <a:t>• The email says: “Your account will be suspended today. Click the link below to verify your account.”</a:t>
            </a:r>
          </a:p>
          <a:p>
            <a:endParaRPr lang="en-US" sz="2000" dirty="0">
              <a:solidFill>
                <a:schemeClr val="bg1"/>
              </a:solidFill>
            </a:endParaRPr>
          </a:p>
          <a:p>
            <a:r>
              <a:rPr lang="en-US" sz="2000" dirty="0">
                <a:solidFill>
                  <a:schemeClr val="bg1"/>
                </a:solidFill>
              </a:rPr>
              <a:t>• The link leads to a fake banking website designed to steal the employee’s username, password, and banking details.</a:t>
            </a:r>
          </a:p>
          <a:p>
            <a:endParaRPr lang="en-US" sz="2000" dirty="0">
              <a:solidFill>
                <a:schemeClr val="bg1"/>
              </a:solidFill>
            </a:endParaRPr>
          </a:p>
          <a:p>
            <a:r>
              <a:rPr lang="en-US" sz="2000" dirty="0">
                <a:solidFill>
                  <a:schemeClr val="bg1"/>
                </a:solidFill>
              </a:rPr>
              <a:t>• Warning signs: Urgent language, suspicious link, request for sensitive information, and a sender address that may look slightly different from the real bank.</a:t>
            </a:r>
          </a:p>
          <a:p>
            <a:endParaRPr lang="en-US" sz="2000" dirty="0">
              <a:solidFill>
                <a:schemeClr val="bg1"/>
              </a:solidFill>
            </a:endParaRPr>
          </a:p>
          <a:p>
            <a:r>
              <a:rPr lang="en-US" sz="2000" dirty="0">
                <a:solidFill>
                  <a:schemeClr val="bg1"/>
                </a:solidFill>
              </a:rPr>
              <a:t>• What to do: Do not click the link or provide any information. Verify the message through the bank’s official website or contact the bank directly.</a:t>
            </a:r>
          </a:p>
        </p:txBody>
      </p:sp>
    </p:spTree>
    <p:extLst>
      <p:ext uri="{BB962C8B-B14F-4D97-AF65-F5344CB8AC3E}">
        <p14:creationId xmlns:p14="http://schemas.microsoft.com/office/powerpoint/2010/main" val="21751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FD37E-D42E-D37E-C1FE-B8A47B37476E}"/>
              </a:ext>
            </a:extLst>
          </p:cNvPr>
          <p:cNvSpPr>
            <a:spLocks noGrp="1"/>
          </p:cNvSpPr>
          <p:nvPr>
            <p:ph type="title"/>
          </p:nvPr>
        </p:nvSpPr>
        <p:spPr/>
        <p:txBody>
          <a:bodyPr/>
          <a:lstStyle/>
          <a:p>
            <a:r>
              <a:rPr lang="en-US" dirty="0">
                <a:solidFill>
                  <a:schemeClr val="bg1"/>
                </a:solidFill>
              </a:rPr>
              <a:t>Conclusion &amp; Key Takeaway</a:t>
            </a:r>
          </a:p>
        </p:txBody>
      </p:sp>
      <p:sp>
        <p:nvSpPr>
          <p:cNvPr id="3" name="Content Placeholder 2">
            <a:extLst>
              <a:ext uri="{FF2B5EF4-FFF2-40B4-BE49-F238E27FC236}">
                <a16:creationId xmlns:a16="http://schemas.microsoft.com/office/drawing/2014/main" id="{B4181E01-B912-4B1D-A926-867EB84AB9F1}"/>
              </a:ext>
            </a:extLst>
          </p:cNvPr>
          <p:cNvSpPr>
            <a:spLocks noGrp="1"/>
          </p:cNvSpPr>
          <p:nvPr>
            <p:ph idx="1"/>
          </p:nvPr>
        </p:nvSpPr>
        <p:spPr/>
        <p:txBody>
          <a:bodyPr>
            <a:normAutofit/>
          </a:bodyPr>
          <a:lstStyle/>
          <a:p>
            <a:pPr marL="0" indent="0">
              <a:buNone/>
            </a:pPr>
            <a:r>
              <a:rPr lang="en-US" sz="2000" dirty="0">
                <a:solidFill>
                  <a:schemeClr val="bg1"/>
                </a:solidFill>
              </a:rPr>
              <a:t>   Phishing remains one of the most common and dangerous cyber threats, affecting individuals and organizations worldwide. However, by staying informed and following cybersecurity best practices, we can significantly reduce the risk of becoming victims</a:t>
            </a:r>
            <a:r>
              <a:rPr lang="en-US" sz="2000" dirty="0"/>
              <a:t>.</a:t>
            </a:r>
          </a:p>
          <a:p>
            <a:pPr marL="0" indent="0">
              <a:buNone/>
            </a:pPr>
            <a:endParaRPr lang="en-US" sz="2000" dirty="0"/>
          </a:p>
          <a:p>
            <a:pPr marL="0" indent="0">
              <a:buNone/>
            </a:pPr>
            <a:r>
              <a:rPr lang="en-US" sz="2000" dirty="0">
                <a:solidFill>
                  <a:schemeClr val="bg1"/>
                </a:solidFill>
              </a:rPr>
              <a:t>  Key Takeaways</a:t>
            </a:r>
          </a:p>
          <a:p>
            <a:endParaRPr lang="en-US" sz="2000" dirty="0">
              <a:solidFill>
                <a:schemeClr val="bg1"/>
              </a:solidFill>
            </a:endParaRPr>
          </a:p>
          <a:p>
            <a:r>
              <a:rPr lang="en-US" sz="2000" dirty="0">
                <a:solidFill>
                  <a:schemeClr val="bg1"/>
                </a:solidFill>
              </a:rPr>
              <a:t> ✅ Always verify the sender before responding to emails or messages.</a:t>
            </a:r>
          </a:p>
          <a:p>
            <a:r>
              <a:rPr lang="en-US" sz="2000" dirty="0">
                <a:solidFill>
                  <a:schemeClr val="bg1"/>
                </a:solidFill>
              </a:rPr>
              <a:t> ✅ Never click suspicious links or download unknown attachments.</a:t>
            </a:r>
          </a:p>
          <a:p>
            <a:r>
              <a:rPr lang="en-US" sz="2000" dirty="0">
                <a:solidFill>
                  <a:schemeClr val="bg1"/>
                </a:solidFill>
              </a:rPr>
              <a:t> ✅ Check website URLs carefully before entering sensitive information.</a:t>
            </a:r>
          </a:p>
          <a:p>
            <a:r>
              <a:rPr lang="en-US" sz="2000" dirty="0">
                <a:solidFill>
                  <a:schemeClr val="bg1"/>
                </a:solidFill>
              </a:rPr>
              <a:t> ✅ Use strong passwords and enable Multi-Factor Authentication (MFA).</a:t>
            </a:r>
          </a:p>
          <a:p>
            <a:r>
              <a:rPr lang="en-US" sz="2000" dirty="0">
                <a:solidFill>
                  <a:schemeClr val="bg1"/>
                </a:solidFill>
              </a:rPr>
              <a:t> ✅ Report phishing attempts to the appropriate organization or IT department.</a:t>
            </a:r>
          </a:p>
        </p:txBody>
      </p:sp>
    </p:spTree>
    <p:extLst>
      <p:ext uri="{BB962C8B-B14F-4D97-AF65-F5344CB8AC3E}">
        <p14:creationId xmlns:p14="http://schemas.microsoft.com/office/powerpoint/2010/main" val="2971832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80E7-D060-415A-431A-6AE31CEF8812}"/>
              </a:ext>
            </a:extLst>
          </p:cNvPr>
          <p:cNvSpPr>
            <a:spLocks noGrp="1"/>
          </p:cNvSpPr>
          <p:nvPr>
            <p:ph type="title"/>
          </p:nvPr>
        </p:nvSpPr>
        <p:spPr>
          <a:xfrm>
            <a:off x="838200" y="365125"/>
            <a:ext cx="10515600" cy="1325563"/>
          </a:xfrm>
        </p:spPr>
        <p:txBody>
          <a:bodyPr/>
          <a:lstStyle/>
          <a:p>
            <a:r>
              <a:rPr lang="en-US" dirty="0">
                <a:solidFill>
                  <a:schemeClr val="bg1"/>
                </a:solidFill>
              </a:rPr>
              <a:t>Closing Statement</a:t>
            </a:r>
          </a:p>
        </p:txBody>
      </p:sp>
      <p:sp>
        <p:nvSpPr>
          <p:cNvPr id="3" name="Content Placeholder 2">
            <a:extLst>
              <a:ext uri="{FF2B5EF4-FFF2-40B4-BE49-F238E27FC236}">
                <a16:creationId xmlns:a16="http://schemas.microsoft.com/office/drawing/2014/main" id="{CDE00313-3E85-B5AA-361D-BD3707BEFC83}"/>
              </a:ext>
            </a:extLst>
          </p:cNvPr>
          <p:cNvSpPr>
            <a:spLocks noGrp="1"/>
          </p:cNvSpPr>
          <p:nvPr>
            <p:ph idx="1"/>
          </p:nvPr>
        </p:nvSpPr>
        <p:spPr/>
        <p:txBody>
          <a:bodyPr>
            <a:normAutofit/>
          </a:bodyPr>
          <a:lstStyle/>
          <a:p>
            <a:pPr marL="0" indent="0" algn="ctr">
              <a:buNone/>
            </a:pPr>
            <a:r>
              <a:rPr lang="en-US" sz="2400" dirty="0">
                <a:solidFill>
                  <a:schemeClr val="bg1"/>
                </a:solidFill>
              </a:rPr>
              <a:t>Cybersecurity starts with awareness. Stay alert, think before you click, and help create a safer digital world.</a:t>
            </a:r>
          </a:p>
        </p:txBody>
      </p:sp>
    </p:spTree>
    <p:extLst>
      <p:ext uri="{BB962C8B-B14F-4D97-AF65-F5344CB8AC3E}">
        <p14:creationId xmlns:p14="http://schemas.microsoft.com/office/powerpoint/2010/main" val="1485792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2797</TotalTime>
  <Words>1182</Words>
  <Application>Microsoft Office PowerPoint</Application>
  <PresentationFormat>Widescreen</PresentationFormat>
  <Paragraphs>117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Phishing Awareness Presentation</vt:lpstr>
      <vt:lpstr>What is phishing</vt:lpstr>
      <vt:lpstr>Types of Phishing</vt:lpstr>
      <vt:lpstr>How Phishing Attacks work</vt:lpstr>
      <vt:lpstr>How To Identify Phishing Email</vt:lpstr>
      <vt:lpstr>How To Spot Fake Website and URLs </vt:lpstr>
      <vt:lpstr>Social Engineering Techniques</vt:lpstr>
      <vt:lpstr>Best Practices to Stay Safe From Phishing</vt:lpstr>
      <vt:lpstr>Interactive Quiz </vt:lpstr>
      <vt:lpstr>Question 2</vt:lpstr>
      <vt:lpstr>Question 3</vt:lpstr>
      <vt:lpstr>Question 4</vt:lpstr>
      <vt:lpstr>Real-Life Example: Phishing Attack</vt:lpstr>
      <vt:lpstr>Conclusion &amp; Key Takeaway</vt:lpstr>
      <vt:lpstr>Closing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Shedrack Ekenomamwan</dc:creator>
  <cp:lastModifiedBy>Shedrack Ekenomamwan</cp:lastModifiedBy>
  <cp:revision>8</cp:revision>
  <dcterms:created xsi:type="dcterms:W3CDTF">2026-08-04T19:35:30Z</dcterms:created>
  <dcterms:modified xsi:type="dcterms:W3CDTF">2026-08-09T20:34:36Z</dcterms:modified>
</cp:coreProperties>
</file>